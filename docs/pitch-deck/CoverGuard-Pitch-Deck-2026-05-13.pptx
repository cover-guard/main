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45720"/>
          </a:xfrm>
          <a:prstGeom prst="rect">
            <a:avLst/>
          </a:prstGeom>
          <a:solidFill>
            <a:srgbClr val="1F9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CoverGuard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0" i="1">
                <a:solidFill>
                  <a:srgbClr val="FFFFFF"/>
                </a:solidFill>
                <a:latin typeface="Calibri"/>
              </a:rPr>
              <a:t>Know whether you can insure it — before you bid.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0">
                <a:solidFill>
                  <a:srgbClr val="1F91BF"/>
                </a:solidFill>
                <a:latin typeface="Calibri"/>
              </a:rPr>
              <a:t>Property Insurability Intelligence  ·  All 50 states  ·  Day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Pitch Deck — May 2026 Refresh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1F91BF"/>
                </a:solidFill>
                <a:latin typeface="Calibri"/>
              </a:rPr>
              <a:t>Version 2026.05.13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CoverGuard  ·  Property Insurability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383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May 13,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4A6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F91BF"/>
                </a:solidFill>
                <a:latin typeface="Calibri"/>
              </a:rPr>
              <a:t>Insurability is decided after the offer, not before.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U.S. residential protection gap reached an estimated $77B in 2024 — and it's widening.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Carriers are non-renewing by ZIP, narrowing appetite, or exiting whole states (CA, LA, FL coastal).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Buyers and agents discover uninsurability after the offer goes in — too late to negotiate, walk, or restructure.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On May 4-6, 2026, the CA Department of Insurance filed a 398-violation enforcement action against State Farm General over LA-wildfire claims handling; Newsom warned all CA insurers.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Spring-2026 FL rate decreases (Citizens -8.7%) signal the FL story is shifting from scarcity to competitive shopping.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Insurability has quietly become the new deal-killer — and no one underwrites it at the pre-bid stage.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92824"/>
            <a:ext cx="73152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Confidential — for investor and leadership review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92824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CoverGuard  ·  Property Insurability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383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May 13,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4A6F"/>
                </a:solidFill>
                <a:latin typeface="Calibri"/>
              </a:rPr>
              <a:t>Our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F91BF"/>
                </a:solidFill>
                <a:latin typeface="Calibri"/>
              </a:rPr>
              <a:t>Risk + carrier writing-status + binding quote — in one workflow, in every state.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3749039" cy="402336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749039" cy="50292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3749039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Risk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3383279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Flood, fire, wind, earthquake, crime, drought, landslide, and social vulnerability for any U.S. address.
Sourced from FEMA, USGS, NOAA, Cal Fire, USFS, FBI, ASCE 7, and the Esri Living Atlas.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19" y="1828800"/>
            <a:ext cx="3749039" cy="402336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19" y="1828800"/>
            <a:ext cx="3749039" cy="50292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1874520"/>
            <a:ext cx="3749039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Active Carriers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514600"/>
            <a:ext cx="3383279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Live writing-status by state, ZIP, and risk profile.
We surface who'll actually quote your property — not just who has a website.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8" y="1828800"/>
            <a:ext cx="3749039" cy="402336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18" y="1828800"/>
            <a:ext cx="3749039" cy="50292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8" y="1874520"/>
            <a:ext cx="3749039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Binding Quote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8" y="2514600"/>
            <a:ext cx="3383279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  <a:latin typeface="Calibri"/>
              </a:rPr>
              <a:t>One click to request a binding quote from carriers actively writing in that market.
For agents and consumers, on the same property record.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4B5563"/>
                </a:solidFill>
                <a:latin typeface="Calibri"/>
              </a:rPr>
              <a:t>Agent portal and consumer portal on the same data spine — the only platform serving both sides of the transaction.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92824"/>
            <a:ext cx="73152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Confidential — for investor and leadership review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92824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CoverGuard  ·  Property Insurability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383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May 13,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4A6F"/>
                </a:solidFill>
                <a:latin typeface="Calibri"/>
              </a:rPr>
              <a:t>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F91BF"/>
                </a:solidFill>
                <a:latin typeface="Calibri"/>
              </a:rPr>
              <a:t>A real category — and the window is open.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18288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0B4A6F"/>
                </a:solidFill>
                <a:latin typeface="Calibri"/>
              </a:rPr>
              <a:t>$77B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Calibri"/>
              </a:rPr>
              <a:t>U.S. protection gap (2024)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828800"/>
            <a:ext cx="2743200" cy="18288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05740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0B4A6F"/>
                </a:solidFill>
                <a:latin typeface="Calibri"/>
              </a:rPr>
              <a:t>38,835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017520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Calibri"/>
              </a:rPr>
              <a:t>LA wildfire claims under State Farm pressure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2743200" cy="18288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05740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0B4A6F"/>
                </a:solidFill>
                <a:latin typeface="Calibri"/>
              </a:rPr>
              <a:t>1.63B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Calibri"/>
              </a:rPr>
              <a:t>Q1 2026 insurtech funding ($USD, 95% AI)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828800"/>
            <a:ext cx="2743200" cy="18288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205740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0B4A6F"/>
                </a:solidFill>
                <a:latin typeface="Calibri"/>
              </a:rPr>
              <a:t>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017520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0">
                <a:solidFill>
                  <a:srgbClr val="111827"/>
                </a:solidFill>
                <a:latin typeface="Calibri"/>
              </a:rPr>
              <a:t>States CoverGuard covers on day 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Carrier-side incumbents (ZestyAI, HazardHub, LexisNexis × Cytora) are commoditizing peril scores inside underwriting — raising the floor on what an agent tool must deliver.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Distribution-led plays (Matic × nCino, RealReports across CRMLS / State-Wide MLS) are encroaching on insurance-adjacent agent workflows.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11827"/>
                </a:solidFill>
                <a:latin typeface="Calibri"/>
              </a:rPr>
              <a:t>•  One direct agent-facing competitor (Rhino DealShield) is California-only with a stated multi-state goal by end of 2026 — the window for national flag-planting is open, but narrowing.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92824"/>
            <a:ext cx="73152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Confidential — for investor and leadership review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92824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CoverGuard  ·  Property Insurability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383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May 13,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4A6F"/>
                </a:solidFill>
                <a:latin typeface="Calibri"/>
              </a:rPr>
              <a:t>Competitive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F91BF"/>
                </a:solidFill>
                <a:latin typeface="Calibri"/>
              </a:rPr>
              <a:t>Three concentric rings. We sit alone in the inner ring with a national footprint.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840480" cy="384048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384048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914400" cy="384048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828800"/>
            <a:ext cx="1737360" cy="384048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828800"/>
            <a:ext cx="17373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Carrier writing-status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828800"/>
            <a:ext cx="1280160" cy="384048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828800"/>
            <a:ext cx="12801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Binding quote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914400" cy="384048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National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828800"/>
            <a:ext cx="2011680" cy="384048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828800"/>
            <a:ext cx="201168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Agent + Consumer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212848"/>
            <a:ext cx="3840480" cy="384048"/>
          </a:xfrm>
          <a:prstGeom prst="rect">
            <a:avLst/>
          </a:prstGeom>
          <a:solidFill>
            <a:srgbClr val="1F9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12848"/>
            <a:ext cx="36576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CoverGuard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212848"/>
            <a:ext cx="914400" cy="384048"/>
          </a:xfrm>
          <a:prstGeom prst="rect">
            <a:avLst/>
          </a:prstGeom>
          <a:solidFill>
            <a:srgbClr val="1F9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212848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2212848"/>
            <a:ext cx="1737360" cy="384048"/>
          </a:xfrm>
          <a:prstGeom prst="rect">
            <a:avLst/>
          </a:prstGeom>
          <a:solidFill>
            <a:srgbClr val="1F9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2212848"/>
            <a:ext cx="17373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212848"/>
            <a:ext cx="1280160" cy="384048"/>
          </a:xfrm>
          <a:prstGeom prst="rect">
            <a:avLst/>
          </a:prstGeom>
          <a:solidFill>
            <a:srgbClr val="1F9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212848"/>
            <a:ext cx="12801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212848"/>
            <a:ext cx="914400" cy="384048"/>
          </a:xfrm>
          <a:prstGeom prst="rect">
            <a:avLst/>
          </a:prstGeom>
          <a:solidFill>
            <a:srgbClr val="1F9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212848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2212848"/>
            <a:ext cx="2011680" cy="384048"/>
          </a:xfrm>
          <a:prstGeom prst="rect">
            <a:avLst/>
          </a:prstGeom>
          <a:solidFill>
            <a:srgbClr val="1F91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2212848"/>
            <a:ext cx="201168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596896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596896"/>
            <a:ext cx="36576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Rhino DealShield (CA-only)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2596896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2596896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2596896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0" y="2596896"/>
            <a:ext cx="17373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2596896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2596896"/>
            <a:ext cx="12801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2596896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2596896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2596896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2596896"/>
            <a:ext cx="201168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980944"/>
            <a:ext cx="384048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2980944"/>
            <a:ext cx="36576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ZestyAI / CAPE / Betterview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2980944"/>
            <a:ext cx="91440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2980944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12080" y="2980944"/>
            <a:ext cx="173736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80" y="2980944"/>
            <a:ext cx="17373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2980944"/>
            <a:ext cx="128016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2980944"/>
            <a:ext cx="12801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2980944"/>
            <a:ext cx="91440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0" y="2980944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2980944"/>
            <a:ext cx="201168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2980944"/>
            <a:ext cx="201168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364992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3364992"/>
            <a:ext cx="36576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HazardHub / LexisNexis × Cytora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3364992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80" y="3364992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12080" y="3364992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12080" y="3364992"/>
            <a:ext cx="17373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440" y="3364992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0" y="3364992"/>
            <a:ext cx="12801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29600" y="3364992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0" y="3364992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44000" y="3364992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44000" y="3364992"/>
            <a:ext cx="201168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49040"/>
            <a:ext cx="384048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3749040"/>
            <a:ext cx="36576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First Street Risk Factor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97680" y="3749040"/>
            <a:ext cx="91440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97680" y="3749040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0" y="3749040"/>
            <a:ext cx="173736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12080" y="3749040"/>
            <a:ext cx="17373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49440" y="3749040"/>
            <a:ext cx="128016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49440" y="3749040"/>
            <a:ext cx="12801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29600" y="3749040"/>
            <a:ext cx="91440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9600" y="3749040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144000" y="3749040"/>
            <a:ext cx="201168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44000" y="3749040"/>
            <a:ext cx="201168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133088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8640" y="4133088"/>
            <a:ext cx="36576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RealReports / SourceRE (MLS)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97680" y="4133088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4133088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12080" y="4133088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2080" y="4133088"/>
            <a:ext cx="17373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49440" y="4133088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49440" y="4133088"/>
            <a:ext cx="12801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29600" y="4133088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29600" y="4133088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44000" y="4133088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44000" y="4133088"/>
            <a:ext cx="201168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4517136"/>
            <a:ext cx="384048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4517136"/>
            <a:ext cx="36576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CoverForce (commercial)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97680" y="4517136"/>
            <a:ext cx="91440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97680" y="4517136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12080" y="4517136"/>
            <a:ext cx="173736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212080" y="4517136"/>
            <a:ext cx="17373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49440" y="4517136"/>
            <a:ext cx="128016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49440" y="4517136"/>
            <a:ext cx="12801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229600" y="4517136"/>
            <a:ext cx="91440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29600" y="4517136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4517136"/>
            <a:ext cx="2011680" cy="38404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44000" y="4517136"/>
            <a:ext cx="201168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57200" y="4901184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48640" y="4901184"/>
            <a:ext cx="36576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Matic Insurance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97680" y="4901184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97680" y="4901184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212080" y="4901184"/>
            <a:ext cx="1737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212080" y="4901184"/>
            <a:ext cx="17373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49440" y="4901184"/>
            <a:ext cx="12801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949440" y="4901184"/>
            <a:ext cx="128016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29600" y="4901184"/>
            <a:ext cx="914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29600" y="4901184"/>
            <a:ext cx="91440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Yes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144000" y="4901184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144000" y="4901184"/>
            <a:ext cx="2011680" cy="38404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4B5563"/>
                </a:solidFill>
                <a:latin typeface="Calibri"/>
              </a:rPr>
              <a:t>—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4B5563"/>
                </a:solidFill>
                <a:latin typeface="Calibri"/>
              </a:rPr>
              <a:t>Competitor capabilities change frequently — see docs/competitive-scrub-2026-05-13.md for source notes.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65760" y="6592824"/>
            <a:ext cx="73152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Confidential — for investor and leadership review only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15600" y="6592824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CoverGuard  ·  Property Insurability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383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May 13,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4A6F"/>
                </a:solidFill>
                <a:latin typeface="Calibri"/>
              </a:rPr>
              <a:t>Why only CoverGuard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F91BF"/>
                </a:solidFill>
                <a:latin typeface="Calibri"/>
              </a:rPr>
              <a:t>Six statements no competitor can match in May 2026.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703320" cy="18288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73152" cy="182880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429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4A6F"/>
                </a:solidFill>
                <a:latin typeface="Calibri"/>
              </a:rPr>
              <a:t>All 50 states. Day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4290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Rhino is CA-only. Matic is distribution. We're national.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703320" cy="18288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182880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429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4A6F"/>
                </a:solidFill>
                <a:latin typeface="Calibri"/>
              </a:rPr>
              <a:t>Risk + carriers + binding in one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4290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We bridge what risk vendors and quote APIs leave on opposite sides of the 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703320" cy="18288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73152" cy="182880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920240"/>
            <a:ext cx="3429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4A6F"/>
                </a:solidFill>
                <a:latin typeface="Calibri"/>
              </a:rPr>
              <a:t>Two portals, one data spine.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34290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Buyer's agent + listing agent + buyer — same property record.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3703320" cy="18288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73152" cy="182880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3429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4A6F"/>
                </a:solidFill>
                <a:latin typeface="Calibri"/>
              </a:rPr>
              <a:t>12+ public data sources.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34290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Auditable, sourced, no black-box ML, no AI-hallucination risk.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3840480"/>
            <a:ext cx="3703320" cy="18288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840480"/>
            <a:ext cx="73152" cy="182880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31920"/>
            <a:ext cx="3429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4A6F"/>
                </a:solidFill>
                <a:latin typeface="Calibri"/>
              </a:rPr>
              <a:t>Pre-bid, not post-close.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80560"/>
            <a:ext cx="34290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The highest-leverage moment for the agent and the consumer.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840480"/>
            <a:ext cx="3703320" cy="18288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840480"/>
            <a:ext cx="73152" cy="182880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3931920"/>
            <a:ext cx="34290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B4A6F"/>
                </a:solidFill>
                <a:latin typeface="Calibri"/>
              </a:rPr>
              <a:t>Carrier-grade data, agent-grade UX, consumer-grade pricing.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480560"/>
            <a:ext cx="34290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Verisk-class breadth without enterprise friction.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92824"/>
            <a:ext cx="73152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Confidential — for investor and leadership review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92824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CoverGuard  ·  Property Insurability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383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May 13,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4A6F"/>
                </a:solidFill>
                <a:latin typeface="Calibri"/>
              </a:rPr>
              <a:t>Platform gaps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F91BF"/>
                </a:solidFill>
                <a:latin typeface="Calibri"/>
              </a:rPr>
              <a:t>What we are shipping to defend and extend the wedge.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1828800"/>
            <a:ext cx="4389120" cy="50292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43891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828800"/>
            <a:ext cx="6766560" cy="50292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828800"/>
            <a:ext cx="676656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Why it matters 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502920" cy="5029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31720"/>
            <a:ext cx="320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11827"/>
                </a:solidFill>
                <a:latin typeface="Calibri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331720"/>
            <a:ext cx="4389120" cy="5029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331720"/>
            <a:ext cx="42062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Branded Insurability Report PDF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2331720"/>
            <a:ext cx="6766560" cy="5029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2331720"/>
            <a:ext cx="6583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Own the category-defining deliverable; out-flank DealShield's hero artifact.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34640"/>
            <a:ext cx="320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11827"/>
                </a:solidFill>
                <a:latin typeface="Calibri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2834640"/>
            <a:ext cx="4389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2834640"/>
            <a:ext cx="42062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AMS / CRM integration (Applied Epic, EZLynx)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2834640"/>
            <a:ext cx="6766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2834640"/>
            <a:ext cx="6583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Get into the agent's center of gravity.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37560"/>
            <a:ext cx="502920" cy="5029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337560"/>
            <a:ext cx="320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11827"/>
                </a:solidFill>
                <a:latin typeface="Calibri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3337560"/>
            <a:ext cx="4389120" cy="5029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3337560"/>
            <a:ext cx="42062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Mobile-responsive parity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3337560"/>
            <a:ext cx="6766560" cy="5029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3337560"/>
            <a:ext cx="6583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Listing agents work in the field.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40480"/>
            <a:ext cx="320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11827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3840480"/>
            <a:ext cx="4389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3840480"/>
            <a:ext cx="42062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Bindable quotes (not just quote-requests)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3840480"/>
            <a:ext cx="6766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3840480"/>
            <a:ext cx="6583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Personal-lines equivalent of CoverForce's commercial bar.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43400"/>
            <a:ext cx="502920" cy="5029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343400"/>
            <a:ext cx="320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11827"/>
                </a:solidFill>
                <a:latin typeface="Calibri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4343400"/>
            <a:ext cx="4389120" cy="5029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4343400"/>
            <a:ext cx="42062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Portfolio / book-of-business risk 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4343400"/>
            <a:ext cx="6766560" cy="5029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40680" y="4343400"/>
            <a:ext cx="6583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The C-suite story for agency principals.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4632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846320"/>
            <a:ext cx="320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11827"/>
                </a:solidFill>
                <a:latin typeface="Calibri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" y="4846320"/>
            <a:ext cx="4389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4846320"/>
            <a:ext cx="42062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Real-estate listing-side partner portal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49240" y="4846320"/>
            <a:ext cx="6766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0680" y="4846320"/>
            <a:ext cx="6583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Close the two-sided gap DealShield is trying to fill.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349240"/>
            <a:ext cx="502920" cy="5029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349240"/>
            <a:ext cx="320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11827"/>
                </a:solidFill>
                <a:latin typeface="Calibri"/>
              </a:rPr>
              <a:t>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" y="5349240"/>
            <a:ext cx="4389120" cy="5029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1560" y="5349240"/>
            <a:ext cx="42062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MLS / RealReports / SourceRE distribution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49240" y="5349240"/>
            <a:ext cx="6766560" cy="5029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40680" y="5349240"/>
            <a:ext cx="6583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Embed before RealReports adds a competing module.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85216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852160"/>
            <a:ext cx="3200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111827"/>
                </a:solidFill>
                <a:latin typeface="Calibri"/>
              </a:rPr>
              <a:t>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0120" y="5852160"/>
            <a:ext cx="4389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" y="5852160"/>
            <a:ext cx="42062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Climate-adjusted 30-year insurability forecast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49240" y="5852160"/>
            <a:ext cx="6766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40680" y="5852160"/>
            <a:ext cx="65836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Go where First Street stops.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592824"/>
            <a:ext cx="73152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Confidential — for investor and leadership review only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0" y="6592824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CoverGuard  ·  Property Insurability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383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May 13,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4A6F"/>
                </a:solidFill>
                <a:latin typeface="Calibri"/>
              </a:rPr>
              <a:t>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F91BF"/>
                </a:solidFill>
                <a:latin typeface="Calibri"/>
              </a:rPr>
              <a:t>Six near-term moves to compound the wedge in the next 90 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4572000" cy="566928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45720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Move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828800"/>
            <a:ext cx="1371600" cy="566928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137160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Window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760720" cy="566928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7607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Why 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95728"/>
            <a:ext cx="4572000" cy="56692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395728"/>
            <a:ext cx="43891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CA State Farm response campaign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395728"/>
            <a:ext cx="1371600" cy="56692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395728"/>
            <a:ext cx="11887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4A6F"/>
                </a:solidFill>
                <a:latin typeface="Calibri"/>
              </a:rPr>
              <a:t>7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395728"/>
            <a:ext cx="5760720" cy="56692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395728"/>
            <a:ext cx="55778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Capture the spike in 'is my carrier writing?' intent in California.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62656"/>
            <a:ext cx="4572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962656"/>
            <a:ext cx="43891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MLS partnership-or-license (RealReports / SourceRE)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962656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962656"/>
            <a:ext cx="11887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4A6F"/>
                </a:solidFill>
                <a:latin typeface="Calibri"/>
              </a:rPr>
              <a:t>30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962656"/>
            <a:ext cx="57607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962656"/>
            <a:ext cx="55778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Embed insurability inside MLS report bundle before they ship a competing module.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29584"/>
            <a:ext cx="4572000" cy="56692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529584"/>
            <a:ext cx="43891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FL message pivot — scarcity → competitive shopping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529584"/>
            <a:ext cx="1371600" cy="56692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3529584"/>
            <a:ext cx="11887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4A6F"/>
                </a:solidFill>
                <a:latin typeface="Calibri"/>
              </a:rPr>
              <a:t>14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529584"/>
            <a:ext cx="5760720" cy="56692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529584"/>
            <a:ext cx="55778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Spring rate decreases reset the narrative.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096512"/>
            <a:ext cx="4572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096512"/>
            <a:ext cx="43891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Branded white-label Insurability Report PDF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4096512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4096512"/>
            <a:ext cx="11887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4A6F"/>
                </a:solidFill>
                <a:latin typeface="Calibri"/>
              </a:rPr>
              <a:t>60 days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096512"/>
            <a:ext cx="57607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096512"/>
            <a:ext cx="55778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Own the category-defining artifact.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63440"/>
            <a:ext cx="4572000" cy="56692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663440"/>
            <a:ext cx="43891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FL / TX / LA / NC / SC flag-planting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663440"/>
            <a:ext cx="1371600" cy="56692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663440"/>
            <a:ext cx="11887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4A6F"/>
                </a:solidFill>
                <a:latin typeface="Calibri"/>
              </a:rPr>
              <a:t>90 days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663440"/>
            <a:ext cx="5760720" cy="566928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663440"/>
            <a:ext cx="55778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Plant before Rhino's stated end-of-2026 multi-state push.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230368"/>
            <a:ext cx="4572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230368"/>
            <a:ext cx="43891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11827"/>
                </a:solidFill>
                <a:latin typeface="Calibri"/>
              </a:rPr>
              <a:t>Carrier-availability feed extension — Kin + Openly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5230368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5230368"/>
            <a:ext cx="11887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4A6F"/>
                </a:solidFill>
                <a:latin typeface="Calibri"/>
              </a:rPr>
              <a:t>30 days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230368"/>
            <a:ext cx="57607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5230368"/>
            <a:ext cx="557784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New capacity in our highest-signal geographies.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592824"/>
            <a:ext cx="73152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Confidential — for investor and leadership review only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592824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CoverGuard  ·  Property Insurability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383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May 13,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4A6F"/>
                </a:solidFill>
                <a:latin typeface="Calibri"/>
              </a:rPr>
              <a:t>Traction &amp;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F91BF"/>
                </a:solidFill>
                <a:latin typeface="Calibri"/>
              </a:rPr>
              <a:t>What we measure and where we are headed.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743200" cy="201168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000" b="1" i="0">
                <a:solidFill>
                  <a:srgbClr val="0B4A6F"/>
                </a:solidFill>
                <a:latin typeface="Calibri"/>
              </a:rPr>
              <a:t>500+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23774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111827"/>
                </a:solidFill>
                <a:latin typeface="Calibri"/>
              </a:rPr>
              <a:t>Active agent / broker / lender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828800"/>
            <a:ext cx="2743200" cy="201168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05740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000" b="1" i="0">
                <a:solidFill>
                  <a:srgbClr val="0B4A6F"/>
                </a:solidFill>
                <a:latin typeface="Calibri"/>
              </a:rPr>
              <a:t>150+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971800"/>
            <a:ext cx="23774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111827"/>
                </a:solidFill>
                <a:latin typeface="Calibri"/>
              </a:rPr>
              <a:t>Carriers tracked for live writing-status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2743200" cy="201168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05740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000" b="1" i="0">
                <a:solidFill>
                  <a:srgbClr val="0B4A6F"/>
                </a:solidFill>
                <a:latin typeface="Calibri"/>
              </a:rPr>
              <a:t>12+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71800"/>
            <a:ext cx="23774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111827"/>
                </a:solidFill>
                <a:latin typeface="Calibri"/>
              </a:rPr>
              <a:t>Public data sources powering risk profile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828800"/>
            <a:ext cx="2743200" cy="201168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2057400"/>
            <a:ext cx="274320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000" b="1" i="0">
                <a:solidFill>
                  <a:srgbClr val="0B4A6F"/>
                </a:solidFill>
                <a:latin typeface="Calibri"/>
              </a:rPr>
              <a:t>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971800"/>
            <a:ext cx="23774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111827"/>
                </a:solidFill>
                <a:latin typeface="Calibri"/>
              </a:rPr>
              <a:t>CoverGuard positioning composite (next: DealShield 24, First Street 27)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North-star metrics: insurability decisions delivered/week, binding-quote requests created/week, agent activation rate.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Leading indicators: CA traffic share (post-State Farm campaign), FL message-pivot CTR, MLS pilot LOIs signed.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111827"/>
                </a:solidFill>
                <a:latin typeface="Calibri"/>
              </a:rPr>
              <a:t>•  Lagging indicators: Tier-1 carrier integrations live, AMS sync deployments, paid-plan ARR.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92824"/>
            <a:ext cx="73152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Confidential — for investor and leadership review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92824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CoverGuard  ·  Property Insurability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"/>
            <a:ext cx="33832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May 13,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4A6F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1F91BF"/>
                </a:solidFill>
                <a:latin typeface="Calibri"/>
              </a:rPr>
              <a:t>Capital to compound the wedge before RealReports or Rhino close the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4A6F"/>
                </a:solidFill>
                <a:latin typeface="Calibri"/>
              </a:rPr>
              <a:t>We are raising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Ship the branded white-label Insurability Report and the AMS-sync integrations.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Stand up the listing-agent / MLS partner portal and sign two MLS pilots.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Run a CA-targeted response campaign in the wake of the State Farm enforcement.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Plant flags in FL / TX / LA / NC / SC ahead of Rhino's multi-state push.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Extend the carrier-availability feed (Kin, Openly, FAIR Plan, plus 5 regional carriers).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Recruit a Head of Carrier Partnerships and a VP Marketing.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Calibri"/>
              </a:rPr>
              <a:t>Details, sources, and the full operating model are in the appendix and the May 13 Business Plan refresh.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92824"/>
            <a:ext cx="73152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Confidential — for investor and leadership review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92824"/>
            <a:ext cx="1371600" cy="25603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All 50 states. Day 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1">
                <a:solidFill>
                  <a:srgbClr val="1F91BF"/>
                </a:solidFill>
                <a:latin typeface="Calibri"/>
              </a:rPr>
              <a:t>Know whether you can insure it — before you bid.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coverguard.io  ·  hello@coverguard.io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